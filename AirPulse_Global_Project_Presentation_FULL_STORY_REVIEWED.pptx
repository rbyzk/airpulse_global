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70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67" r:id="rId16"/>
    <p:sldId id="268" r:id="rId17"/>
  </p:sldIdLst>
  <p:sldSz cx="12192000" cy="6858000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Poppins" panose="00000500000000000000" pitchFamily="2" charset="-94"/>
      <p:regular r:id="rId23"/>
      <p:bold r:id="rId24"/>
      <p:italic r:id="rId25"/>
      <p:boldItalic r:id="rId26"/>
    </p:embeddedFont>
    <p:embeddedFont>
      <p:font typeface="Poppins SemiBold" panose="00000700000000000000" pitchFamily="2" charset="-94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  <a:srgbClr val="007AFF"/>
    <a:srgbClr val="059669"/>
    <a:srgbClr val="475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9C2197-69D2-4B00-955C-A48C758536E9}">
  <a:tblStyle styleId="{1A9C2197-69D2-4B00-955C-A48C758536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7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70584" y="2152650"/>
            <a:ext cx="665083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AirPulse</a:t>
            </a:r>
            <a:r>
              <a:rPr lang="en-US" sz="6000" b="1" i="0" u="none" strike="noStrike" cap="none" dirty="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 Global</a:t>
            </a:r>
            <a:endParaRPr dirty="0">
              <a:solidFill>
                <a:srgbClr val="007AFF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28937" y="3486150"/>
            <a:ext cx="63341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Environmental Intelligence &amp; Personalized Action Platform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4781252"/>
            <a:ext cx="13335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4781252"/>
            <a:ext cx="160972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3175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43175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43175"/>
            <a:ext cx="3492549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94225" y="3571875"/>
            <a:ext cx="3047099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Accessible Intelligence</a:t>
            </a:r>
            <a:endParaRPr lang="en-US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3848100"/>
            <a:ext cx="290199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Transforming complex air quality data into clear, actionable insights that everyone can understand in seconds.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4572524" y="35718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Personalization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45074" y="3848100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Moving beyond general reports to provide tailored health advice based on your exact location and wind context.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50824" y="35718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Sustainability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23374" y="3848100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Acting as a catalyst by turning "monitored problems" into "personal solutions" through carbon footprinting.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1950" y="28860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8860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699" y="28860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Vision: From Data to Awareness</a:t>
            </a:r>
            <a:endParaRPr dirty="0"/>
          </a:p>
        </p:txBody>
      </p:sp>
      <p:sp>
        <p:nvSpPr>
          <p:cNvPr id="107" name="Google Shape;107;p1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Resim 37" descr="image.png">
            <a:extLst>
              <a:ext uri="{FF2B5EF4-FFF2-40B4-BE49-F238E27FC236}">
                <a16:creationId xmlns:a16="http://schemas.microsoft.com/office/drawing/2014/main" id="{9B11F8A9-E1F1-B22C-DB30-A8129597B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45618"/>
            <a:ext cx="10952347" cy="2040754"/>
          </a:xfrm>
          <a:prstGeom prst="rect">
            <a:avLst/>
          </a:prstGeom>
        </p:spPr>
      </p:pic>
      <p:pic>
        <p:nvPicPr>
          <p:cNvPr id="36" name="Resim 35" descr="image.png">
            <a:extLst>
              <a:ext uri="{FF2B5EF4-FFF2-40B4-BE49-F238E27FC236}">
                <a16:creationId xmlns:a16="http://schemas.microsoft.com/office/drawing/2014/main" id="{8ABB3BF6-E706-F94C-F626-47870DE83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679" y="2020341"/>
            <a:ext cx="3413761" cy="1408659"/>
          </a:xfrm>
          <a:prstGeom prst="rect">
            <a:avLst/>
          </a:prstGeom>
        </p:spPr>
      </p:pic>
      <p:pic>
        <p:nvPicPr>
          <p:cNvPr id="35" name="Resim 34" descr="image.png">
            <a:extLst>
              <a:ext uri="{FF2B5EF4-FFF2-40B4-BE49-F238E27FC236}">
                <a16:creationId xmlns:a16="http://schemas.microsoft.com/office/drawing/2014/main" id="{76054B80-B4F0-2908-2ED4-212A1BD42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879" y="2020342"/>
            <a:ext cx="3413761" cy="1408659"/>
          </a:xfrm>
          <a:prstGeom prst="rect">
            <a:avLst/>
          </a:prstGeom>
        </p:spPr>
      </p:pic>
      <p:pic>
        <p:nvPicPr>
          <p:cNvPr id="34" name="Resim 33" descr="image.png">
            <a:extLst>
              <a:ext uri="{FF2B5EF4-FFF2-40B4-BE49-F238E27FC236}">
                <a16:creationId xmlns:a16="http://schemas.microsoft.com/office/drawing/2014/main" id="{C31D8CB7-9DF1-D807-D832-5F98C48B4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2020342"/>
            <a:ext cx="3413761" cy="14086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79" y="1355847"/>
            <a:ext cx="1065276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dirty="0">
                <a:solidFill>
                  <a:srgbClr val="607087"/>
                </a:solidFill>
                <a:latin typeface="Aptos"/>
              </a:rPr>
              <a:t>Why </a:t>
            </a:r>
            <a:r>
              <a:rPr sz="1100" b="0" dirty="0" err="1">
                <a:solidFill>
                  <a:srgbClr val="607087"/>
                </a:solidFill>
                <a:latin typeface="Aptos"/>
              </a:rPr>
              <a:t>AirPulse</a:t>
            </a:r>
            <a:r>
              <a:rPr sz="1100" b="0" dirty="0">
                <a:solidFill>
                  <a:srgbClr val="607087"/>
                </a:solidFill>
                <a:latin typeface="Aptos"/>
              </a:rPr>
              <a:t> exists — transforming raw environmental data into everyday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48358"/>
            <a:ext cx="3063240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dirty="0">
                <a:solidFill>
                  <a:srgbClr val="475569"/>
                </a:solidFill>
                <a:latin typeface="Aptos"/>
              </a:rPr>
              <a:t>01 Fragmented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77542"/>
            <a:ext cx="3063240" cy="8503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dirty="0">
                <a:solidFill>
                  <a:srgbClr val="607087"/>
                </a:solidFill>
                <a:latin typeface="Aptos"/>
              </a:rPr>
              <a:t>Air quality data exists across public feeds, station networks and weather APIs, but users rarely see one coherent picture.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48358"/>
            <a:ext cx="3063240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dirty="0">
                <a:solidFill>
                  <a:srgbClr val="475569"/>
                </a:solidFill>
                <a:latin typeface="Aptos"/>
              </a:rPr>
              <a:t>02 Technical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77542"/>
            <a:ext cx="3063240" cy="8503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dirty="0">
                <a:solidFill>
                  <a:srgbClr val="607087"/>
                </a:solidFill>
                <a:latin typeface="Aptos"/>
              </a:rPr>
              <a:t>AQI and pollutant metrics are often difficult to interpret without scientific context or health guidance.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48358"/>
            <a:ext cx="3063240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dirty="0">
                <a:solidFill>
                  <a:srgbClr val="475569"/>
                </a:solidFill>
                <a:latin typeface="Aptos"/>
              </a:rPr>
              <a:t>03 Low actionability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477542"/>
            <a:ext cx="3063240" cy="8503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dirty="0">
                <a:solidFill>
                  <a:srgbClr val="607087"/>
                </a:solidFill>
                <a:latin typeface="Aptos"/>
              </a:rPr>
              <a:t>People may know the number, but they often do not know whether to exercise, commute differently, or protect indoor air.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14902"/>
            <a:ext cx="3840480" cy="3323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 dirty="0" err="1">
                <a:solidFill>
                  <a:srgbClr val="0070C0"/>
                </a:solidFill>
                <a:latin typeface="Aptos"/>
              </a:rPr>
              <a:t>AirPulse</a:t>
            </a:r>
            <a:r>
              <a:rPr sz="1800" b="1" dirty="0">
                <a:solidFill>
                  <a:srgbClr val="0070C0"/>
                </a:solidFill>
                <a:latin typeface="Aptos"/>
              </a:rPr>
              <a:t>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608094"/>
            <a:ext cx="905256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dirty="0">
                <a:solidFill>
                  <a:srgbClr val="1F2A44"/>
                </a:solidFill>
                <a:latin typeface="Aptos"/>
              </a:rPr>
              <a:t>Convert monitored problems into personalized, location-aware climate and health actions.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275606"/>
            <a:ext cx="90525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607087"/>
                </a:solidFill>
                <a:latin typeface="Aptos"/>
              </a:rPr>
              <a:t>Originally designed around Istanbul’s dense urban air-quality network, </a:t>
            </a:r>
            <a:r>
              <a:rPr sz="1200" b="0" dirty="0" err="1">
                <a:solidFill>
                  <a:srgbClr val="607087"/>
                </a:solidFill>
                <a:latin typeface="Aptos"/>
              </a:rPr>
              <a:t>AirPulse</a:t>
            </a:r>
            <a:r>
              <a:rPr sz="1200" b="0" dirty="0">
                <a:solidFill>
                  <a:srgbClr val="607087"/>
                </a:solidFill>
                <a:latin typeface="Aptos"/>
              </a:rPr>
              <a:t> evolved into a global environmental intelligence platform with scalable data ingestion, forecasting and export-ready reporting.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5860822"/>
            <a:ext cx="2057400" cy="32004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5915686"/>
            <a:ext cx="1965960" cy="2468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Istanbul foundation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5860822"/>
            <a:ext cx="2057400" cy="32004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0" y="5915686"/>
            <a:ext cx="1965960" cy="2468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Global scaling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5860822"/>
            <a:ext cx="2331720" cy="32004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52159" y="5915686"/>
            <a:ext cx="2240279" cy="2468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Personal action 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5860822"/>
            <a:ext cx="2148840" cy="32004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5915686"/>
            <a:ext cx="2057400" cy="2468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 support</a:t>
            </a:r>
          </a:p>
        </p:txBody>
      </p:sp>
      <p:sp>
        <p:nvSpPr>
          <p:cNvPr id="30" name="Google Shape;106;p14">
            <a:extLst>
              <a:ext uri="{FF2B5EF4-FFF2-40B4-BE49-F238E27FC236}">
                <a16:creationId xmlns:a16="http://schemas.microsoft.com/office/drawing/2014/main" id="{6C9C6BCC-E53C-6C3F-C678-B074909ED6B4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Problem &amp; Opportunity</a:t>
            </a:r>
          </a:p>
        </p:txBody>
      </p:sp>
      <p:sp>
        <p:nvSpPr>
          <p:cNvPr id="33" name="Google Shape;107;p14">
            <a:extLst>
              <a:ext uri="{FF2B5EF4-FFF2-40B4-BE49-F238E27FC236}">
                <a16:creationId xmlns:a16="http://schemas.microsoft.com/office/drawing/2014/main" id="{4B4D321C-C453-4CC8-30A0-338558B7F29F}"/>
              </a:ext>
            </a:extLst>
          </p:cNvPr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94;p14" descr="image.png">
            <a:extLst>
              <a:ext uri="{FF2B5EF4-FFF2-40B4-BE49-F238E27FC236}">
                <a16:creationId xmlns:a16="http://schemas.microsoft.com/office/drawing/2014/main" id="{26492D90-5BF6-A9D8-E14B-5A3F9B2B5B5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29799" y="1879092"/>
            <a:ext cx="196596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94;p14" descr="image.png">
            <a:extLst>
              <a:ext uri="{FF2B5EF4-FFF2-40B4-BE49-F238E27FC236}">
                <a16:creationId xmlns:a16="http://schemas.microsoft.com/office/drawing/2014/main" id="{5B7E6D6F-CCD3-35DF-E3A0-EFE7F5C5120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84364" y="1879092"/>
            <a:ext cx="196596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94;p14" descr="image.png">
            <a:extLst>
              <a:ext uri="{FF2B5EF4-FFF2-40B4-BE49-F238E27FC236}">
                <a16:creationId xmlns:a16="http://schemas.microsoft.com/office/drawing/2014/main" id="{0DFD2731-5953-193C-7F71-62329E3A342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84647" y="1879092"/>
            <a:ext cx="196596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94;p14" descr="image.png">
            <a:extLst>
              <a:ext uri="{FF2B5EF4-FFF2-40B4-BE49-F238E27FC236}">
                <a16:creationId xmlns:a16="http://schemas.microsoft.com/office/drawing/2014/main" id="{35B8F2E6-A44A-4BA2-143B-AED1F35A552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20924" y="1879092"/>
            <a:ext cx="196596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94;p14" descr="image.png">
            <a:extLst>
              <a:ext uri="{FF2B5EF4-FFF2-40B4-BE49-F238E27FC236}">
                <a16:creationId xmlns:a16="http://schemas.microsoft.com/office/drawing/2014/main" id="{365BF0BD-83D0-E215-FCAC-9C1A573C2AB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2567" y="1874519"/>
            <a:ext cx="196596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48640" y="1380743"/>
            <a:ext cx="109728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dirty="0">
                <a:solidFill>
                  <a:srgbClr val="607087"/>
                </a:solidFill>
                <a:latin typeface="Aptos"/>
              </a:rPr>
              <a:t>A complete journey from city-level awareness to measurable personal action</a:t>
            </a:r>
          </a:p>
        </p:txBody>
      </p:sp>
      <p:sp>
        <p:nvSpPr>
          <p:cNvPr id="7" name="Oval 6"/>
          <p:cNvSpPr/>
          <p:nvPr/>
        </p:nvSpPr>
        <p:spPr>
          <a:xfrm>
            <a:off x="630936" y="2003944"/>
            <a:ext cx="411480" cy="40233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2107691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20824"/>
            <a:ext cx="11430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Aptos"/>
              </a:rPr>
              <a:t>Search 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41448"/>
            <a:ext cx="164592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 dirty="0">
                <a:solidFill>
                  <a:srgbClr val="607087"/>
                </a:solidFill>
                <a:latin typeface="Aptos"/>
              </a:rPr>
              <a:t>User selects any city or station to establish local context.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6816" y="2441448"/>
            <a:ext cx="310896" cy="0"/>
          </a:xfrm>
          <a:prstGeom prst="line">
            <a:avLst/>
          </a:prstGeom>
          <a:ln w="19050">
            <a:solidFill>
              <a:srgbClr val="BEC7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962656" y="2012736"/>
            <a:ext cx="411480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62656" y="2107691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020824"/>
            <a:ext cx="11430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Aptos"/>
              </a:rPr>
              <a:t>View AQI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441448"/>
            <a:ext cx="164592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>
                <a:solidFill>
                  <a:srgbClr val="607087"/>
                </a:solidFill>
                <a:latin typeface="Aptos"/>
              </a:rPr>
              <a:t>Dashboard translates pollutant readings into a clear health status.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18536" y="2441448"/>
            <a:ext cx="310896" cy="0"/>
          </a:xfrm>
          <a:prstGeom prst="line">
            <a:avLst/>
          </a:prstGeom>
          <a:ln w="19050">
            <a:solidFill>
              <a:srgbClr val="BEC7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294375" y="2012736"/>
            <a:ext cx="411480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94375" y="2107691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020824"/>
            <a:ext cx="11430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Aptos"/>
              </a:rPr>
              <a:t>Explore Stations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1" y="2441448"/>
            <a:ext cx="164592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>
                <a:solidFill>
                  <a:srgbClr val="607087"/>
                </a:solidFill>
                <a:latin typeface="Aptos"/>
              </a:rPr>
              <a:t>Map reveals neighborhood-level hotspots and station variation.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59048" y="2441448"/>
            <a:ext cx="310895" cy="0"/>
          </a:xfrm>
          <a:prstGeom prst="line">
            <a:avLst/>
          </a:prstGeom>
          <a:ln w="19050">
            <a:solidFill>
              <a:srgbClr val="BEC7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626096" y="2012736"/>
            <a:ext cx="411480" cy="39354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26096" y="2107691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2020824"/>
            <a:ext cx="11430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Aptos"/>
              </a:rPr>
              <a:t>Check Forecast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2441448"/>
            <a:ext cx="164592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 dirty="0">
                <a:solidFill>
                  <a:srgbClr val="607087"/>
                </a:solidFill>
                <a:latin typeface="Aptos"/>
              </a:rPr>
              <a:t>Predictive module estimates short-term pollutant movement.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81976" y="2441448"/>
            <a:ext cx="310896" cy="0"/>
          </a:xfrm>
          <a:prstGeom prst="line">
            <a:avLst/>
          </a:prstGeom>
          <a:ln w="19050">
            <a:solidFill>
              <a:srgbClr val="BEC7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957816" y="2012736"/>
            <a:ext cx="411480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57816" y="2107691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80" y="2020824"/>
            <a:ext cx="11430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Aptos"/>
              </a:rPr>
              <a:t>Act &amp;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2441448"/>
            <a:ext cx="164592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>
                <a:solidFill>
                  <a:srgbClr val="607087"/>
                </a:solidFill>
                <a:latin typeface="Aptos"/>
              </a:rPr>
              <a:t>Health advice, CO₂ savings, checklist and reports close the loop.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886200"/>
            <a:ext cx="109728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500" b="1" dirty="0">
                <a:solidFill>
                  <a:srgbClr val="0070C0"/>
                </a:solidFill>
                <a:latin typeface="Aptos"/>
              </a:rPr>
              <a:t>Value Chain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4315968"/>
            <a:ext cx="98755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53312" y="4498848"/>
            <a:ext cx="946404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600" b="1" dirty="0">
                <a:solidFill>
                  <a:srgbClr val="1F2A44"/>
                </a:solidFill>
                <a:latin typeface="Aptos"/>
              </a:rPr>
              <a:t>Live Data  →  Environmental Intelligence  →  Personalized Recommendation  →  Behavioral Impact  →  Exportable 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340096"/>
            <a:ext cx="8961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0">
                <a:solidFill>
                  <a:srgbClr val="607087"/>
                </a:solidFill>
                <a:latin typeface="Aptos"/>
              </a:rPr>
              <a:t>This flow positions AirPulse as a platform, not a single-purpose AQI dashboard.</a:t>
            </a:r>
          </a:p>
        </p:txBody>
      </p:sp>
      <p:sp>
        <p:nvSpPr>
          <p:cNvPr id="39" name="Google Shape;106;p14">
            <a:extLst>
              <a:ext uri="{FF2B5EF4-FFF2-40B4-BE49-F238E27FC236}">
                <a16:creationId xmlns:a16="http://schemas.microsoft.com/office/drawing/2014/main" id="{1B10638D-5113-98F1-0C2B-2F96C103465B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Flow &amp; User Journey</a:t>
            </a:r>
          </a:p>
        </p:txBody>
      </p:sp>
      <p:sp>
        <p:nvSpPr>
          <p:cNvPr id="40" name="Google Shape;107;p14">
            <a:extLst>
              <a:ext uri="{FF2B5EF4-FFF2-40B4-BE49-F238E27FC236}">
                <a16:creationId xmlns:a16="http://schemas.microsoft.com/office/drawing/2014/main" id="{06AC4F72-1B9A-9FC1-3E87-8FC44ECD3C45}"/>
              </a:ext>
            </a:extLst>
          </p:cNvPr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571500" y="2081212"/>
            <a:ext cx="5550693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Modular Data Pipeline</a:t>
            </a:r>
            <a:endParaRPr dirty="0">
              <a:solidFill>
                <a:srgbClr val="007AFF"/>
              </a:solidFill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571500" y="3073584"/>
            <a:ext cx="2324105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2F63D8"/>
                </a:solidFill>
              </a:rPr>
              <a:t>Inputs</a:t>
            </a:r>
          </a:p>
          <a:p>
            <a:pPr algn="ctr"/>
            <a:r>
              <a:rPr sz="1000" dirty="0">
                <a:solidFill>
                  <a:srgbClr val="5C6370"/>
                </a:solidFill>
              </a:rPr>
              <a:t>WAQI live feed</a:t>
            </a:r>
          </a:p>
          <a:p>
            <a:pPr algn="ctr"/>
            <a:r>
              <a:rPr sz="1000" dirty="0">
                <a:solidFill>
                  <a:srgbClr val="5C6370"/>
                </a:solidFill>
              </a:rPr>
              <a:t>Open-</a:t>
            </a:r>
            <a:r>
              <a:rPr sz="1000" dirty="0" err="1">
                <a:solidFill>
                  <a:srgbClr val="5C6370"/>
                </a:solidFill>
              </a:rPr>
              <a:t>Meteo</a:t>
            </a:r>
            <a:r>
              <a:rPr sz="1000" dirty="0">
                <a:solidFill>
                  <a:srgbClr val="5C6370"/>
                </a:solidFill>
              </a:rPr>
              <a:t> fallback</a:t>
            </a:r>
          </a:p>
          <a:p>
            <a:pPr algn="ctr"/>
            <a:r>
              <a:rPr sz="1000" dirty="0">
                <a:solidFill>
                  <a:srgbClr val="5C6370"/>
                </a:solidFill>
              </a:rPr>
              <a:t>Tomorrow.io wind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528255" y="3073584"/>
            <a:ext cx="2295825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2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257D6"/>
                </a:solidFill>
              </a:rPr>
              <a:t>Process</a:t>
            </a:r>
          </a:p>
          <a:p>
            <a:pPr algn="ctr"/>
            <a:r>
              <a:rPr sz="1000">
                <a:solidFill>
                  <a:srgbClr val="5C6370"/>
                </a:solidFill>
              </a:rPr>
              <a:t>Normalize</a:t>
            </a:r>
          </a:p>
          <a:p>
            <a:pPr algn="ctr"/>
            <a:r>
              <a:rPr sz="1000">
                <a:solidFill>
                  <a:srgbClr val="5C6370"/>
                </a:solidFill>
              </a:rPr>
              <a:t>merge sources</a:t>
            </a:r>
          </a:p>
          <a:p>
            <a:pPr algn="ctr"/>
            <a:r>
              <a:rPr sz="1000">
                <a:solidFill>
                  <a:srgbClr val="5C6370"/>
                </a:solidFill>
              </a:rPr>
              <a:t>rank stations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466576" y="3073584"/>
            <a:ext cx="2253269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1A8C5F"/>
                </a:solidFill>
              </a:rPr>
              <a:t>Intelligence</a:t>
            </a:r>
          </a:p>
          <a:p>
            <a:pPr algn="ctr"/>
            <a:r>
              <a:rPr sz="1000" dirty="0">
                <a:solidFill>
                  <a:srgbClr val="5C6370"/>
                </a:solidFill>
              </a:rPr>
              <a:t>Forecast</a:t>
            </a:r>
          </a:p>
          <a:p>
            <a:pPr algn="ctr"/>
            <a:r>
              <a:rPr sz="1000" dirty="0">
                <a:solidFill>
                  <a:srgbClr val="5C6370"/>
                </a:solidFill>
              </a:rPr>
              <a:t>analytics</a:t>
            </a:r>
          </a:p>
          <a:p>
            <a:pPr algn="ctr"/>
            <a:r>
              <a:rPr sz="1000" dirty="0">
                <a:solidFill>
                  <a:srgbClr val="5C6370"/>
                </a:solidFill>
              </a:rPr>
              <a:t>health guidance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201856" y="3073584"/>
            <a:ext cx="230970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C97B00"/>
                </a:solidFill>
              </a:rPr>
              <a:t>Output</a:t>
            </a:r>
          </a:p>
          <a:p>
            <a:pPr algn="ctr"/>
            <a:r>
              <a:rPr sz="1000" dirty="0">
                <a:solidFill>
                  <a:srgbClr val="5C6370"/>
                </a:solidFill>
              </a:rPr>
              <a:t>Dashboard</a:t>
            </a:r>
          </a:p>
          <a:p>
            <a:pPr algn="ctr"/>
            <a:r>
              <a:rPr sz="1000" dirty="0">
                <a:solidFill>
                  <a:srgbClr val="5C6370"/>
                </a:solidFill>
              </a:rPr>
              <a:t>reports</a:t>
            </a:r>
          </a:p>
          <a:p>
            <a:pPr algn="ctr"/>
            <a:r>
              <a:rPr sz="1000" dirty="0">
                <a:solidFill>
                  <a:srgbClr val="5C6370"/>
                </a:solidFill>
              </a:rPr>
              <a:t>CSV / JPEG / PDF</a:t>
            </a:r>
          </a:p>
        </p:txBody>
      </p:sp>
      <p:sp>
        <p:nvSpPr>
          <p:cNvPr id="125" name="Chevron 124"/>
          <p:cNvSpPr/>
          <p:nvPr/>
        </p:nvSpPr>
        <p:spPr>
          <a:xfrm>
            <a:off x="3035461" y="3733633"/>
            <a:ext cx="362784" cy="310896"/>
          </a:xfrm>
          <a:prstGeom prst="chevron">
            <a:avLst/>
          </a:prstGeom>
          <a:solidFill>
            <a:srgbClr val="F4F7FC"/>
          </a:solidFill>
          <a:ln>
            <a:solidFill>
              <a:srgbClr val="2F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Chevron 125"/>
          <p:cNvSpPr/>
          <p:nvPr/>
        </p:nvSpPr>
        <p:spPr>
          <a:xfrm>
            <a:off x="5963936" y="3745668"/>
            <a:ext cx="362784" cy="310896"/>
          </a:xfrm>
          <a:prstGeom prst="chevron">
            <a:avLst/>
          </a:prstGeom>
          <a:solidFill>
            <a:srgbClr val="F4F7FC"/>
          </a:solidFill>
          <a:ln>
            <a:solidFill>
              <a:srgbClr val="2F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Chevron 126"/>
          <p:cNvSpPr/>
          <p:nvPr/>
        </p:nvSpPr>
        <p:spPr>
          <a:xfrm>
            <a:off x="8779459" y="3745906"/>
            <a:ext cx="362784" cy="310896"/>
          </a:xfrm>
          <a:prstGeom prst="chevron">
            <a:avLst/>
          </a:prstGeom>
          <a:solidFill>
            <a:srgbClr val="F4F7FC"/>
          </a:solidFill>
          <a:ln>
            <a:solidFill>
              <a:srgbClr val="2F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011680" y="1370171"/>
            <a:ext cx="4800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dirty="0">
                <a:solidFill>
                  <a:srgbClr val="5C6370"/>
                </a:solidFill>
              </a:rPr>
              <a:t>Live source data is unified, enriched with wind context, then converted into forecast, analytics and export-ready user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Product Stack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571500" y="1304925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rPr dirty="0"/>
              <a:t>Core technologies powering data ingestion, analytics, visualization and export-ready reporting.</a:t>
            </a:r>
          </a:p>
        </p:txBody>
      </p:sp>
      <p:graphicFrame>
        <p:nvGraphicFramePr>
          <p:cNvPr id="142" name="Table 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453291"/>
              </p:ext>
            </p:extLst>
          </p:nvPr>
        </p:nvGraphicFramePr>
        <p:xfrm>
          <a:off x="960120" y="1844625"/>
          <a:ext cx="1028700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Domain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Technology / Library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Strategic Role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rPr dirty="0">
                          <a:solidFill>
                            <a:srgbClr val="007AFF"/>
                          </a:solidFill>
                        </a:rPr>
                        <a:t>Framework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Streamlit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High-speed reactive web application layer for dashboard interaction and session state.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rPr dirty="0">
                          <a:solidFill>
                            <a:srgbClr val="007AFF"/>
                          </a:solidFill>
                        </a:rPr>
                        <a:t>Data Engineering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Pandas &amp; NumPy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rPr dirty="0"/>
                        <a:t>Data normalization, feature preparation and mathematical computation.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rPr dirty="0">
                          <a:solidFill>
                            <a:srgbClr val="007AFF"/>
                          </a:solidFill>
                        </a:rPr>
                        <a:t>Visualization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Plotly &amp; Folium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Interactive time-series charts and geographic station maps.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rPr dirty="0">
                          <a:solidFill>
                            <a:srgbClr val="007AFF"/>
                          </a:solidFill>
                        </a:rPr>
                        <a:t>Reporting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ReportLab &amp; Pillow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rPr dirty="0"/>
                        <a:t>Dynamic PDF reports and social-ready image card generation.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" name="Rounded Rectangle 142"/>
          <p:cNvSpPr/>
          <p:nvPr/>
        </p:nvSpPr>
        <p:spPr>
          <a:xfrm>
            <a:off x="3543300" y="6032781"/>
            <a:ext cx="4297680" cy="384048"/>
          </a:xfrm>
          <a:prstGeom prst="roundRect">
            <a:avLst/>
          </a:prstGeom>
          <a:solidFill>
            <a:srgbClr val="F8FAFC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Aptos"/>
              </a:defRPr>
            </a:pPr>
            <a:r>
              <a:t>Unified stack: live data → insight → action →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86050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86050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686050"/>
            <a:ext cx="3492549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94225" y="37147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WAQI / AQICN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66775" y="399097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Primary global feed for PM2.5, NO2, O3 readings and official station daily forecasts.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572524" y="37147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Tomorrow.io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645074" y="399097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precision wind speed, direction, and gust data for dispersion context.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350824" y="37147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Open-Meteo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423374" y="399097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Global no-key fallback for dashboard overviews and auxiliary meteorological data.</a:t>
            </a:r>
            <a:endParaRPr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3028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3028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8549" y="302895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Intelligence Integration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3100"/>
            <a:ext cx="3492549" cy="2004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43100"/>
            <a:ext cx="3492549" cy="2004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43100"/>
            <a:ext cx="3492549" cy="2004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06416" y="4368313"/>
            <a:ext cx="2379166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94225" y="22383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PM2.5 / PM10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66775" y="25146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Particulate matter linked to lung health, visibility, and construction/combustion activities.</a:t>
            </a:r>
            <a:endParaRPr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4572524" y="22383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NO2 / SO2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645074" y="25146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Gaseous pollutants primarily sourced from traffic emissions and industrial processes.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350824" y="22383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O3 / CO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423374" y="25146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Ground-level ozone (smog) and carbon monoxide from incomplete combustion.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Monitored Pollutants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70284"/>
            <a:ext cx="11049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6334125" y="217646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F63D8"/>
                </a:solidFill>
              </a:rPr>
              <a:t>Forecasting Strategy &amp; Validation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334125" y="264318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161C2D"/>
                </a:solidFill>
              </a:rPr>
              <a:t>Official WAQI daily forecast is used first.</a:t>
            </a:r>
            <a:endParaRPr/>
          </a:p>
          <a:p>
            <a:pPr algn="l"/>
            <a:r>
              <a:rPr sz="1300" b="0">
                <a:solidFill>
                  <a:srgbClr val="161C2D"/>
                </a:solidFill>
              </a:rPr>
              <a:t>If upstream coverage is missing, AirPulse falls back to a conservative time-series estimate.</a:t>
            </a:r>
          </a:p>
        </p:txBody>
      </p:sp>
      <p:sp>
        <p:nvSpPr>
          <p:cNvPr id="185" name="Google Shape;185;p19"/>
          <p:cNvSpPr txBox="1"/>
          <p:nvPr/>
        </p:nvSpPr>
        <p:spPr>
          <a:xfrm>
            <a:off x="6334125" y="3357562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161C2D"/>
                </a:solidFill>
              </a:rPr>
              <a:t>Offline PM2.5 champion: R² 0.77 and RMSE 16.27.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334125" y="378618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161C2D"/>
                </a:solidFill>
              </a:rPr>
              <a:t>Cross-station benchmark: 8,236 rows with best sMAPE 18.9%.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334125" y="42148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161C2D"/>
                </a:solidFill>
              </a:rPr>
              <a:t>Live validation store: 183 records collected; 49 already comparable to actuals.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Predictive Intelligence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54C8256C-E932-E1CB-5FA3-6FC1B6FE5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75" y="2366750"/>
            <a:ext cx="5393601" cy="2267374"/>
          </a:xfrm>
          <a:prstGeom prst="rect">
            <a:avLst/>
          </a:prstGeom>
        </p:spPr>
      </p:pic>
      <p:sp>
        <p:nvSpPr>
          <p:cNvPr id="190" name="Rounded Rectangle 189"/>
          <p:cNvSpPr/>
          <p:nvPr/>
        </p:nvSpPr>
        <p:spPr>
          <a:xfrm>
            <a:off x="6580823" y="5169744"/>
            <a:ext cx="416052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1A8C5F"/>
                </a:solidFill>
              </a:rPr>
              <a:t>Why this matters</a:t>
            </a:r>
          </a:p>
          <a:p>
            <a:pPr algn="ctr"/>
            <a:r>
              <a:rPr sz="1100" dirty="0">
                <a:solidFill>
                  <a:srgbClr val="5C6370"/>
                </a:solidFill>
              </a:rPr>
              <a:t>The deck now shows both model logic and real evaluation evidence instead of a placeholder.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19262"/>
            <a:ext cx="5286375" cy="4386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19262"/>
            <a:ext cx="5286375" cy="438676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962025" y="2109787"/>
            <a:ext cx="473059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The Dashboard</a:t>
            </a:r>
            <a:endParaRPr dirty="0">
              <a:solidFill>
                <a:srgbClr val="007AFF"/>
              </a:solidFill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6724650" y="2109787"/>
            <a:ext cx="473059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Station Map Explorer</a:t>
            </a:r>
            <a:endParaRPr dirty="0">
              <a:solidFill>
                <a:srgbClr val="007AFF"/>
              </a:solidFill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Interactive Exploration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BAC20AAE-516F-C5BF-E55B-F1DFF21DFA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53" y="2902450"/>
            <a:ext cx="4848267" cy="2747239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8B57030B-9256-F9B5-068C-9F3430E776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006" y="2975180"/>
            <a:ext cx="4877441" cy="25969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0CE099D8-A54E-461F-0EFB-B7B61AD03B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2695575"/>
            <a:ext cx="3492549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989672" y="3012462"/>
            <a:ext cx="379827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0.64</a:t>
            </a:r>
            <a:endParaRPr sz="9600"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1274883" y="4773306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Tons CO2 / Month</a:t>
            </a:r>
            <a:endParaRPr dirty="0"/>
          </a:p>
        </p:txBody>
      </p:sp>
      <p:sp>
        <p:nvSpPr>
          <p:cNvPr id="210" name="Google Shape;210;p21"/>
          <p:cNvSpPr txBox="1"/>
          <p:nvPr/>
        </p:nvSpPr>
        <p:spPr>
          <a:xfrm>
            <a:off x="6334125" y="27765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From Insight to Impact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34125" y="30527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Carbon Calculator: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Dynamic monthly footprinting based on diet, commute, and energy consumption.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334125" y="376713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Smart Commute: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Real-time comparison showing CO2 savings when switching from car to bicycle or walking.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334125" y="44815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Action Checklist: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Daily habit tracking with streak rewards for environment-first choices.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Take Action: Sustainability Hub</a:t>
            </a:r>
            <a:endParaRPr dirty="0"/>
          </a:p>
        </p:txBody>
      </p:sp>
      <p:sp>
        <p:nvSpPr>
          <p:cNvPr id="215" name="Google Shape;215;p2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1676400" y="2512037"/>
            <a:ext cx="9220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61C2D"/>
                </a:solidFill>
              </a:rPr>
              <a:t>Meteorological correlation</a:t>
            </a:r>
            <a:endParaRPr dirty="0"/>
          </a:p>
          <a:p>
            <a:pPr algn="l"/>
            <a:r>
              <a:rPr sz="1400" b="0">
                <a:solidFill>
                  <a:srgbClr val="161C2D"/>
                </a:solidFill>
              </a:rPr>
              <a:t>Wind speed vs pollutant stagnation</a:t>
            </a:r>
          </a:p>
        </p:txBody>
      </p:sp>
      <p:sp>
        <p:nvSpPr>
          <p:cNvPr id="222" name="Google Shape;222;p22"/>
          <p:cNvSpPr txBox="1"/>
          <p:nvPr/>
        </p:nvSpPr>
        <p:spPr>
          <a:xfrm>
            <a:off x="1676400" y="3471861"/>
            <a:ext cx="9220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61C2D"/>
                </a:solidFill>
              </a:rPr>
              <a:t>Source identification</a:t>
            </a:r>
            <a:endParaRPr dirty="0"/>
          </a:p>
          <a:p>
            <a:pPr algn="l"/>
            <a:r>
              <a:rPr sz="1400" b="0">
                <a:solidFill>
                  <a:srgbClr val="161C2D"/>
                </a:solidFill>
              </a:rPr>
              <a:t>Traffic-linked NO2 vs industrial SO2 signals</a:t>
            </a:r>
          </a:p>
        </p:txBody>
      </p:sp>
      <p:sp>
        <p:nvSpPr>
          <p:cNvPr id="223" name="Google Shape;223;p22"/>
          <p:cNvSpPr txBox="1"/>
          <p:nvPr/>
        </p:nvSpPr>
        <p:spPr>
          <a:xfrm>
            <a:off x="1676400" y="4097580"/>
            <a:ext cx="9220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61C2D"/>
                </a:solidFill>
              </a:rPr>
              <a:t>Forecast validation</a:t>
            </a:r>
            <a:endParaRPr dirty="0"/>
          </a:p>
          <a:p>
            <a:pPr algn="l"/>
            <a:r>
              <a:rPr sz="1400" b="0">
                <a:solidFill>
                  <a:srgbClr val="161C2D"/>
                </a:solidFill>
              </a:rPr>
              <a:t>Actual vs estimate comparison on recent windows</a:t>
            </a:r>
          </a:p>
        </p:txBody>
      </p:sp>
      <p:sp>
        <p:nvSpPr>
          <p:cNvPr id="224" name="Google Shape;224;p22"/>
          <p:cNvSpPr txBox="1"/>
          <p:nvPr/>
        </p:nvSpPr>
        <p:spPr>
          <a:xfrm>
            <a:off x="1676400" y="4872766"/>
            <a:ext cx="92202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algn="l"/>
            <a:r>
              <a:rPr sz="1400" b="0">
                <a:solidFill>
                  <a:srgbClr val="161C2D"/>
                </a:solidFill>
              </a:rPr>
              <a:t>Anomaly detection</a:t>
            </a:r>
          </a:p>
          <a:p>
            <a:pPr algn="l"/>
            <a:r>
              <a:rPr sz="1400" b="0">
                <a:solidFill>
                  <a:srgbClr val="161C2D"/>
                </a:solidFill>
              </a:rPr>
              <a:t>Unexpected spikes beyond historical seasonality</a:t>
            </a:r>
          </a:p>
        </p:txBody>
      </p:sp>
      <p:pic>
        <p:nvPicPr>
          <p:cNvPr id="225" name="Google Shape;22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259959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35594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417634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4889986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Analytical Depth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A70EBC11-A8A1-6778-4A43-00170882D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174" y="1985234"/>
            <a:ext cx="3229426" cy="38486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71500" y="571500"/>
            <a:ext cx="52006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Professional Reporting</a:t>
            </a:r>
            <a:endParaRPr dirty="0"/>
          </a:p>
        </p:txBody>
      </p:sp>
      <p:sp>
        <p:nvSpPr>
          <p:cNvPr id="237" name="Google Shape;237;p23"/>
          <p:cNvSpPr/>
          <p:nvPr/>
        </p:nvSpPr>
        <p:spPr>
          <a:xfrm>
            <a:off x="571500" y="1285875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571500" y="1685925"/>
            <a:ext cx="52006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Export-Ready Results</a:t>
            </a:r>
            <a:endParaRPr dirty="0">
              <a:solidFill>
                <a:srgbClr val="007AFF"/>
              </a:solidFill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952500" y="21526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A4 PDF Generation: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Styled reports including pollutant tables, wind summaries, and personal scores.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952500" y="3354267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Social Cards: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1080x566 JPEG assets designed for instant LinkedIn and Twitter awareness.</a:t>
            </a:r>
            <a:endParaRPr dirty="0"/>
          </a:p>
        </p:txBody>
      </p:sp>
      <p:sp>
        <p:nvSpPr>
          <p:cNvPr id="242" name="Google Shape;242;p23"/>
          <p:cNvSpPr txBox="1"/>
          <p:nvPr/>
        </p:nvSpPr>
        <p:spPr>
          <a:xfrm>
            <a:off x="952500" y="4256942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Raw Data Export: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Full CSV access for independent research and further analysis.</a:t>
            </a:r>
            <a:endParaRPr/>
          </a:p>
        </p:txBody>
      </p:sp>
      <p:pic>
        <p:nvPicPr>
          <p:cNvPr id="243" name="Google Shape;24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2050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40665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309329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15;p21">
            <a:extLst>
              <a:ext uri="{FF2B5EF4-FFF2-40B4-BE49-F238E27FC236}">
                <a16:creationId xmlns:a16="http://schemas.microsoft.com/office/drawing/2014/main" id="{5457A2C4-CEA0-F665-3D71-8F02456697FD}"/>
              </a:ext>
            </a:extLst>
          </p:cNvPr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6674BEA0-97B6-28D9-4C45-D1B207F537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305049"/>
            <a:ext cx="4804466" cy="25178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4;p14" descr="image.png">
            <a:extLst>
              <a:ext uri="{FF2B5EF4-FFF2-40B4-BE49-F238E27FC236}">
                <a16:creationId xmlns:a16="http://schemas.microsoft.com/office/drawing/2014/main" id="{3348DD8C-08ED-2A99-9932-E3E112FEE15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74720" y="3469977"/>
            <a:ext cx="2514599" cy="95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94;p14" descr="image.png">
            <a:extLst>
              <a:ext uri="{FF2B5EF4-FFF2-40B4-BE49-F238E27FC236}">
                <a16:creationId xmlns:a16="http://schemas.microsoft.com/office/drawing/2014/main" id="{37762384-6EE1-6E5C-363A-7E80A55092E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359" y="3469977"/>
            <a:ext cx="2514599" cy="95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94;p14" descr="image.png">
            <a:extLst>
              <a:ext uri="{FF2B5EF4-FFF2-40B4-BE49-F238E27FC236}">
                <a16:creationId xmlns:a16="http://schemas.microsoft.com/office/drawing/2014/main" id="{B63EF4E0-1E63-1DA0-5BED-3EF4861F30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74720" y="2184365"/>
            <a:ext cx="2514599" cy="95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94;p14" descr="image.png">
            <a:extLst>
              <a:ext uri="{FF2B5EF4-FFF2-40B4-BE49-F238E27FC236}">
                <a16:creationId xmlns:a16="http://schemas.microsoft.com/office/drawing/2014/main" id="{F01D954E-E3E5-4F7D-5F84-8E708AB5AD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359" y="2208280"/>
            <a:ext cx="2514599" cy="9555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571500" y="1342381"/>
            <a:ext cx="109728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dirty="0">
                <a:solidFill>
                  <a:srgbClr val="607087"/>
                </a:solidFill>
                <a:latin typeface="Aptos"/>
              </a:rPr>
              <a:t>What the project delivers — plus the signals that make it credible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269827"/>
            <a:ext cx="219456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000" b="1" dirty="0">
                <a:solidFill>
                  <a:srgbClr val="007AFF"/>
                </a:solidFill>
                <a:latin typeface="Aptos"/>
              </a:rPr>
              <a:t>25+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17299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1F2A44"/>
                </a:solidFill>
                <a:latin typeface="Aptos"/>
              </a:rPr>
              <a:t>Global city presets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36755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>
                <a:solidFill>
                  <a:srgbClr val="607087"/>
                </a:solidFill>
                <a:latin typeface="Aptos"/>
              </a:rPr>
              <a:t>Coverage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269827"/>
            <a:ext cx="219456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000" b="1" dirty="0">
                <a:solidFill>
                  <a:srgbClr val="007AFF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617299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1F2A44"/>
                </a:solidFill>
                <a:latin typeface="Aptos"/>
              </a:rPr>
              <a:t>Live data providers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836755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>
                <a:solidFill>
                  <a:srgbClr val="607087"/>
                </a:solidFill>
                <a:latin typeface="Aptos"/>
              </a:rPr>
              <a:t>WAQI · Tomorrow.io · Open-Meteo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568275"/>
            <a:ext cx="219456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000" b="1" dirty="0">
                <a:solidFill>
                  <a:srgbClr val="007AFF"/>
                </a:solidFill>
                <a:latin typeface="Aptos"/>
              </a:rPr>
              <a:t>3–10d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915747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1F2A44"/>
                </a:solidFill>
                <a:latin typeface="Aptos"/>
              </a:rPr>
              <a:t>Forecast horizon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135203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>
                <a:solidFill>
                  <a:srgbClr val="607087"/>
                </a:solidFill>
                <a:latin typeface="Aptos"/>
              </a:rPr>
              <a:t>Short-term pollutant outlook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3568275"/>
            <a:ext cx="219456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000" b="1">
                <a:solidFill>
                  <a:srgbClr val="007AFF"/>
                </a:solidFill>
                <a:latin typeface="Aptos"/>
              </a:rPr>
              <a:t>PDF/JPEG/CSV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915747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1F2A44"/>
                </a:solidFill>
                <a:latin typeface="Aptos"/>
              </a:rPr>
              <a:t>Export formats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4135203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>
                <a:solidFill>
                  <a:srgbClr val="607087"/>
                </a:solidFill>
                <a:latin typeface="Aptos"/>
              </a:rPr>
              <a:t>Report-ready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691642"/>
            <a:ext cx="47548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Aptos"/>
              </a:rPr>
              <a:t>Validation Signals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2176274"/>
            <a:ext cx="4800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2276858"/>
            <a:ext cx="13258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1">
                <a:solidFill>
                  <a:srgbClr val="007AFF"/>
                </a:solidFill>
                <a:latin typeface="Aptos"/>
              </a:rPr>
              <a:t>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267714"/>
            <a:ext cx="3063240" cy="23774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>
                <a:solidFill>
                  <a:srgbClr val="607087"/>
                </a:solidFill>
                <a:latin typeface="Aptos"/>
              </a:rPr>
              <a:t>WAQI daily forecast comparison + transparent confidence intervals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2871217"/>
            <a:ext cx="4800600" cy="530352"/>
          </a:xfrm>
          <a:prstGeom prst="rect">
            <a:avLst/>
          </a:prstGeom>
          <a:solidFill>
            <a:srgbClr val="F7FAFD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2971801"/>
            <a:ext cx="13258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1">
                <a:solidFill>
                  <a:srgbClr val="007AFF"/>
                </a:solidFill>
                <a:latin typeface="Aptos"/>
              </a:rPr>
              <a:t>Station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962658"/>
            <a:ext cx="3063240" cy="23774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>
                <a:solidFill>
                  <a:srgbClr val="607087"/>
                </a:solidFill>
                <a:latin typeface="Aptos"/>
              </a:rPr>
              <a:t>Multi-station AQI ranking highlights hotspot variation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3566162"/>
            <a:ext cx="4800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3666746"/>
            <a:ext cx="13258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1">
                <a:solidFill>
                  <a:srgbClr val="007AFF"/>
                </a:solidFill>
                <a:latin typeface="Aptos"/>
              </a:rPr>
              <a:t>Sustainability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657602"/>
            <a:ext cx="3063240" cy="23774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>
                <a:solidFill>
                  <a:srgbClr val="607087"/>
                </a:solidFill>
                <a:latin typeface="Aptos"/>
              </a:rPr>
              <a:t>CO₂ savings estimate links personal choices to measurable impact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4261106"/>
            <a:ext cx="4800600" cy="530352"/>
          </a:xfrm>
          <a:prstGeom prst="rect">
            <a:avLst/>
          </a:prstGeom>
          <a:solidFill>
            <a:srgbClr val="F7FAFD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0" y="4361690"/>
            <a:ext cx="13258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1">
                <a:solidFill>
                  <a:srgbClr val="007AFF"/>
                </a:solidFill>
                <a:latin typeface="Aptos"/>
              </a:rPr>
              <a:t>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352546"/>
            <a:ext cx="3063240" cy="23774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>
                <a:solidFill>
                  <a:srgbClr val="607087"/>
                </a:solidFill>
                <a:latin typeface="Aptos"/>
              </a:rPr>
              <a:t>Export-ready PDF, JPEG and CSV prove product readiness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195432"/>
            <a:ext cx="10652760" cy="1376818"/>
          </a:xfrm>
          <a:prstGeom prst="roundRect">
            <a:avLst/>
          </a:prstGeom>
          <a:solidFill>
            <a:srgbClr val="F8FAFC"/>
          </a:solidFill>
          <a:ln w="12700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17319" y="5340668"/>
            <a:ext cx="9098281" cy="1055674"/>
          </a:xfrm>
          <a:prstGeom prst="rect">
            <a:avLst/>
          </a:prstGeom>
          <a:solidFill>
            <a:srgbClr val="F4F7FC"/>
          </a:solidFill>
          <a:ln>
            <a:solidFill>
              <a:srgbClr val="2F63D8"/>
            </a:solidFill>
          </a:ln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0">
                <a:solidFill>
                  <a:srgbClr val="161C2D"/>
                </a:solidFill>
              </a:rPr>
              <a:t>Evidence Snapshot</a:t>
            </a:r>
          </a:p>
          <a:p>
            <a:pPr algn="ctr"/>
            <a:r>
              <a:rPr sz="1300" b="0">
                <a:solidFill>
                  <a:srgbClr val="161C2D"/>
                </a:solidFill>
              </a:rPr>
              <a:t>- 48 cached city / station histories support repeatable demos</a:t>
            </a:r>
          </a:p>
          <a:p>
            <a:pPr algn="ctr"/>
            <a:r>
              <a:rPr sz="1300" b="0">
                <a:solidFill>
                  <a:srgbClr val="161C2D"/>
                </a:solidFill>
              </a:rPr>
              <a:t>- PM2.5 offline champion: R² 0.77 | RMSE 16.27</a:t>
            </a:r>
          </a:p>
          <a:p>
            <a:pPr algn="ctr"/>
            <a:r>
              <a:rPr sz="1300" b="0">
                <a:solidFill>
                  <a:srgbClr val="161C2D"/>
                </a:solidFill>
              </a:rPr>
              <a:t>- Leave-station-out benchmark: 8,236 rows | best sMAPE 18.9%</a:t>
            </a:r>
          </a:p>
          <a:p>
            <a:pPr algn="ctr"/>
            <a:r>
              <a:rPr sz="1300" b="0">
                <a:solidFill>
                  <a:srgbClr val="161C2D"/>
                </a:solidFill>
              </a:rPr>
              <a:t>- Validation store: 183 records captured for forecast follow-up</a:t>
            </a:r>
          </a:p>
        </p:txBody>
      </p:sp>
      <p:sp>
        <p:nvSpPr>
          <p:cNvPr id="40" name="Google Shape;215;p21">
            <a:extLst>
              <a:ext uri="{FF2B5EF4-FFF2-40B4-BE49-F238E27FC236}">
                <a16:creationId xmlns:a16="http://schemas.microsoft.com/office/drawing/2014/main" id="{8F65A34B-BEE3-A93A-4D2F-4B39868100CD}"/>
              </a:ext>
            </a:extLst>
          </p:cNvPr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236;p23">
            <a:extLst>
              <a:ext uri="{FF2B5EF4-FFF2-40B4-BE49-F238E27FC236}">
                <a16:creationId xmlns:a16="http://schemas.microsoft.com/office/drawing/2014/main" id="{705BABD9-60F8-CE67-6841-D7516051088C}"/>
              </a:ext>
            </a:extLst>
          </p:cNvPr>
          <p:cNvSpPr txBox="1"/>
          <p:nvPr/>
        </p:nvSpPr>
        <p:spPr>
          <a:xfrm>
            <a:off x="571500" y="571500"/>
            <a:ext cx="823839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Outcomes &amp; 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251"/>
          <p:cNvSpPr txBox="1"/>
          <p:nvPr/>
        </p:nvSpPr>
        <p:spPr>
          <a:xfrm>
            <a:off x="731520" y="1645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939"/>
                </a:solidFill>
              </a:rPr>
              <a:t>AirPulse Global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49808" y="2240280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3B4E"/>
                </a:solidFill>
              </a:rPr>
              <a:t>Turning environmental data into personal climate action.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49808" y="2697480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78"/>
                </a:solidFill>
              </a:rPr>
              <a:t>Live intelligence. Local awareness. Measurable impact.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49808" y="3246120"/>
            <a:ext cx="5120640" cy="13716"/>
          </a:xfrm>
          <a:prstGeom prst="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749808" y="37033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63D8"/>
                </a:solidFill>
              </a:rPr>
              <a:t>Demo / Q&amp;A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49808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3B4E"/>
                </a:solidFill>
              </a:rPr>
              <a:t>airpulse-global.streamlit.app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749808" y="452628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1C2D"/>
                </a:solidFill>
              </a:rPr>
              <a:t>Demo focus</a:t>
            </a:r>
          </a:p>
          <a:p>
            <a:pPr algn="l"/>
            <a:r>
              <a:rPr sz="1300" b="0">
                <a:solidFill>
                  <a:srgbClr val="161C2D"/>
                </a:solidFill>
              </a:rPr>
              <a:t>- Live web app already available</a:t>
            </a:r>
          </a:p>
          <a:p>
            <a:pPr algn="l"/>
            <a:r>
              <a:rPr sz="1300" b="0">
                <a:solidFill>
                  <a:srgbClr val="161C2D"/>
                </a:solidFill>
              </a:rPr>
              <a:t>- Best story: city search -&gt; forecast -&gt; take action -&gt; report export</a:t>
            </a:r>
          </a:p>
          <a:p>
            <a:pPr algn="l"/>
            <a:r>
              <a:rPr sz="1300" b="0">
                <a:solidFill>
                  <a:srgbClr val="161C2D"/>
                </a:solidFill>
              </a:rPr>
              <a:t>- Mention that wind enrichment is stronger when Tomorrow.io is configured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7406640" y="1691640"/>
            <a:ext cx="3429000" cy="3373814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7726679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63D8"/>
                </a:solidFill>
              </a:rPr>
              <a:t>Roadmap + Limits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726679" y="2423160"/>
            <a:ext cx="2606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1C2D"/>
                </a:solidFill>
              </a:rPr>
              <a:t>Roadmap</a:t>
            </a:r>
          </a:p>
          <a:p>
            <a:pPr algn="l"/>
            <a:r>
              <a:rPr sz="1400" b="0">
                <a:solidFill>
                  <a:srgbClr val="161C2D"/>
                </a:solidFill>
              </a:rPr>
              <a:t>- Alerts / notifications</a:t>
            </a:r>
          </a:p>
          <a:p>
            <a:pPr algn="l"/>
            <a:r>
              <a:rPr sz="1400" b="0">
                <a:solidFill>
                  <a:srgbClr val="161C2D"/>
                </a:solidFill>
              </a:rPr>
              <a:t>- Stronger validation benchmark</a:t>
            </a:r>
          </a:p>
          <a:p>
            <a:pPr algn="l"/>
            <a:r>
              <a:rPr sz="1400" b="0">
                <a:solidFill>
                  <a:srgbClr val="161C2D"/>
                </a:solidFill>
              </a:rPr>
              <a:t>- Institutional reporting view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7726679" y="3657600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7B00"/>
                </a:solidFill>
              </a:rPr>
              <a:t>Limits</a:t>
            </a:r>
          </a:p>
          <a:p>
            <a:pPr algn="l"/>
            <a:r>
              <a:rPr sz="1300" b="0">
                <a:solidFill>
                  <a:srgbClr val="C97B00"/>
                </a:solidFill>
              </a:rPr>
              <a:t>- API dependency</a:t>
            </a:r>
          </a:p>
          <a:p>
            <a:pPr algn="l"/>
            <a:r>
              <a:rPr sz="1300" b="0">
                <a:solidFill>
                  <a:srgbClr val="C97B00"/>
                </a:solidFill>
              </a:rPr>
              <a:t>- optional wind key</a:t>
            </a:r>
          </a:p>
          <a:p>
            <a:pPr algn="l"/>
            <a:r>
              <a:rPr sz="1300" b="0">
                <a:solidFill>
                  <a:srgbClr val="C97B00"/>
                </a:solidFill>
              </a:rPr>
              <a:t>- coverage varies by city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image.png">
            <a:extLst>
              <a:ext uri="{FF2B5EF4-FFF2-40B4-BE49-F238E27FC236}">
                <a16:creationId xmlns:a16="http://schemas.microsoft.com/office/drawing/2014/main" id="{E7CB4BE7-C490-62C3-D088-A21B4A3B7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24"/>
            <a:ext cx="12193465" cy="6858824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913826E7-C471-4BAB-AC23-E938E8A644FE}"/>
              </a:ext>
            </a:extLst>
          </p:cNvPr>
          <p:cNvSpPr txBox="1"/>
          <p:nvPr/>
        </p:nvSpPr>
        <p:spPr>
          <a:xfrm>
            <a:off x="3047268" y="2613392"/>
            <a:ext cx="609746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tr-TR" sz="7200" b="1" i="0" u="none" strike="noStrike" dirty="0" err="1">
                <a:solidFill>
                  <a:srgbClr val="1E293B"/>
                </a:solidFill>
                <a:effectLst/>
                <a:latin typeface="Poppins" panose="00000500000000000000" pitchFamily="2" charset="-94"/>
              </a:rPr>
              <a:t>Thank</a:t>
            </a:r>
            <a:r>
              <a:rPr lang="tr-TR" sz="7200" b="1" i="0" u="none" strike="noStrike" dirty="0">
                <a:solidFill>
                  <a:srgbClr val="1E293B"/>
                </a:solidFill>
                <a:effectLst/>
                <a:latin typeface="Poppins" panose="00000500000000000000" pitchFamily="2" charset="-94"/>
              </a:rPr>
              <a:t> </a:t>
            </a:r>
            <a:r>
              <a:rPr lang="tr-TR" sz="7200" b="1" i="0" u="none" strike="noStrike" dirty="0" err="1">
                <a:solidFill>
                  <a:srgbClr val="1E293B"/>
                </a:solidFill>
                <a:effectLst/>
                <a:latin typeface="Poppins" panose="00000500000000000000" pitchFamily="2" charset="-94"/>
              </a:rPr>
              <a:t>You</a:t>
            </a:r>
            <a:endParaRPr lang="tr-TR" sz="7200" b="0" dirty="0">
              <a:effectLst/>
            </a:endParaRPr>
          </a:p>
          <a:p>
            <a:pPr>
              <a:buNone/>
            </a:pPr>
            <a:br>
              <a:rPr lang="tr-TR" dirty="0"/>
            </a:br>
            <a:endParaRPr lang="tr-T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1019</Words>
  <Application>Microsoft Office PowerPoint</Application>
  <PresentationFormat>Geniş ekran</PresentationFormat>
  <Paragraphs>176</Paragraphs>
  <Slides>16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3" baseType="lpstr">
      <vt:lpstr>Poppins</vt:lpstr>
      <vt:lpstr>Arial</vt:lpstr>
      <vt:lpstr>Aptos</vt:lpstr>
      <vt:lpstr>Poppins SemiBold</vt:lpstr>
      <vt:lpstr>Lato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R.Byz K</cp:lastModifiedBy>
  <cp:revision>5</cp:revision>
  <dcterms:modified xsi:type="dcterms:W3CDTF">2026-05-12T23:58:58Z</dcterms:modified>
</cp:coreProperties>
</file>