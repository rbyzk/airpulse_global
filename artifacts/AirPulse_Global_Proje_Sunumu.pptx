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AirPulse Global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CanlÄ± hava kalitesi zekasÄ±, tahmin, aksiyon ve raporlama platformu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1508760"/>
            <a:ext cx="5394960" cy="1874519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000">
                <a:solidFill>
                  <a:srgbClr val="1D1D1F"/>
                </a:solidFill>
              </a:rPr>
              <a:t>Problem: hava kalitesi verisi Ã§oÄŸu kullanÄ±cÄ± iÃ§in daÄŸÄ±nÄ±k, teknik ve aksiyona uzak.</a:t>
            </a:r>
          </a:p>
        </p:txBody>
      </p:sp>
      <p:sp>
        <p:nvSpPr>
          <p:cNvPr id="7" name="Card"/>
          <p:cNvSpPr/>
          <p:nvPr/>
        </p:nvSpPr>
        <p:spPr>
          <a:xfrm>
            <a:off x="6309360" y="1508760"/>
            <a:ext cx="5074920" cy="1874519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900">
                <a:solidFill>
                  <a:srgbClr val="1D1D1F"/>
                </a:solidFill>
              </a:rPr>
              <a:t>Ã‡Ã¶zÃ¼m: canlÄ± Ã¶lÃ§Ã¼m, istasyon haritasÄ±, forecast, rÃ¼zgar baÄŸlamÄ± ve Ã¶nerileri tek deneyimde birleÅŸtirmek.</a:t>
            </a:r>
          </a:p>
        </p:txBody>
      </p:sp>
      <p:sp>
        <p:nvSpPr>
          <p:cNvPr id="8" name="Card"/>
          <p:cNvSpPr/>
          <p:nvPr/>
        </p:nvSpPr>
        <p:spPr>
          <a:xfrm>
            <a:off x="777240" y="388620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900">
                <a:solidFill>
                  <a:srgbClr val="1D1D1F"/>
                </a:solidFill>
              </a:rPr>
              <a:t>25 modÃ¼l</a:t>
            </a:r>
          </a:p>
        </p:txBody>
      </p:sp>
      <p:sp>
        <p:nvSpPr>
          <p:cNvPr id="9" name="Card"/>
          <p:cNvSpPr/>
          <p:nvPr/>
        </p:nvSpPr>
        <p:spPr>
          <a:xfrm>
            <a:off x="3154680" y="388620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900">
                <a:solidFill>
                  <a:srgbClr val="1D1D1F"/>
                </a:solidFill>
              </a:rPr>
              <a:t>48 ham CSV</a:t>
            </a:r>
          </a:p>
        </p:txBody>
      </p:sp>
      <p:sp>
        <p:nvSpPr>
          <p:cNvPr id="10" name="Card"/>
          <p:cNvSpPr/>
          <p:nvPr/>
        </p:nvSpPr>
        <p:spPr>
          <a:xfrm>
            <a:off x="5532120" y="3886200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900">
                <a:solidFill>
                  <a:srgbClr val="1D1D1F"/>
                </a:solidFill>
              </a:rPr>
              <a:t>54 istasyon</a:t>
            </a:r>
          </a:p>
        </p:txBody>
      </p:sp>
      <p:sp>
        <p:nvSpPr>
          <p:cNvPr id="11" name="Card"/>
          <p:cNvSpPr/>
          <p:nvPr/>
        </p:nvSpPr>
        <p:spPr>
          <a:xfrm>
            <a:off x="7909560" y="3886200"/>
            <a:ext cx="2697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900">
                <a:solidFill>
                  <a:srgbClr val="1D1D1F"/>
                </a:solidFill>
              </a:rPr>
              <a:t>7 Ã¼rÃ¼n sayfasÄ±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C759"/>
          </a:solidFill>
          <a:ln>
            <a:solidFill>
              <a:srgbClr val="34C759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Projenin Ana Hedefi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34C759"/>
          </a:solidFill>
          <a:ln>
            <a:solidFill>
              <a:srgbClr val="34C759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Veriyi gÃ¶stermekten karar destek sistemine geÃ§iÅŸ</a:t>
            </a:r>
          </a:p>
        </p:txBody>
      </p:sp>
      <p:sp>
        <p:nvSpPr>
          <p:cNvPr id="6" name="Card"/>
          <p:cNvSpPr/>
          <p:nvPr/>
        </p:nvSpPr>
        <p:spPr>
          <a:xfrm>
            <a:off x="731520" y="1417320"/>
            <a:ext cx="3246120" cy="3566160"/>
          </a:xfrm>
          <a:prstGeom prst="round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CanlÄ± AQI ve kirletici izleme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Ä°stasyon ve ÅŸehir karÅŸÄ±laÅŸtÄ±rmasÄ±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Risk seviyesini sadeleÅŸtirme</a:t>
            </a:r>
          </a:p>
        </p:txBody>
      </p:sp>
      <p:sp>
        <p:nvSpPr>
          <p:cNvPr id="7" name="Card"/>
          <p:cNvSpPr/>
          <p:nvPr/>
        </p:nvSpPr>
        <p:spPr>
          <a:xfrm>
            <a:off x="4434840" y="1417320"/>
            <a:ext cx="324612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Forecast ve kaynak ÅŸeffaflÄ±ÄŸÄ±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WAQI Ã¶nceliÄŸi, fallback etiketi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Offline benchmark ile araÅŸtÄ±rma desteÄŸi</a:t>
            </a:r>
          </a:p>
        </p:txBody>
      </p:sp>
      <p:sp>
        <p:nvSpPr>
          <p:cNvPr id="8" name="Card"/>
          <p:cNvSpPr/>
          <p:nvPr/>
        </p:nvSpPr>
        <p:spPr>
          <a:xfrm>
            <a:off x="8138160" y="1417320"/>
            <a:ext cx="3246120" cy="356616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KiÅŸisel aksiyon Ã¶nerileri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Karbon ayak izi ve checklist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PDF/JPEG/CSV rapor Ã¼retimi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Mimari: 3 KatmanlÄ± YapÄ±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ÃœrÃ¼n deneyimi, araÅŸtÄ±rma/modelleme ve destek servisleri ayrÄ±ÅŸtÄ±rÄ±ldÄ±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1325880"/>
            <a:ext cx="3337560" cy="38862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Runtime Application
app.py -&gt; legacy_app.py
Dashboard, harita, forecast, aksiyon, rapor ve analytics sayfalarÄ±</a:t>
            </a:r>
          </a:p>
        </p:txBody>
      </p:sp>
      <p:sp>
        <p:nvSpPr>
          <p:cNvPr id="7" name="Card"/>
          <p:cNvSpPr/>
          <p:nvPr/>
        </p:nvSpPr>
        <p:spPr>
          <a:xfrm>
            <a:off x="4434840" y="1325880"/>
            <a:ext cx="3337560" cy="388620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Research &amp; Modeling
notebooks + forecasting.py
Station expansion, feature engineering, backtest ve offline modeller</a:t>
            </a:r>
          </a:p>
        </p:txBody>
      </p:sp>
      <p:sp>
        <p:nvSpPr>
          <p:cNvPr id="8" name="Card"/>
          <p:cNvSpPr/>
          <p:nvPr/>
        </p:nvSpPr>
        <p:spPr>
          <a:xfrm>
            <a:off x="8183879" y="1325880"/>
            <a:ext cx="333756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Support Layer
config, secrets, reporting, i18n
Cache TTL, API anahtarlarÄ±, Ã§Ä±ktÄ± Ã¼retimi ve Ã§eviri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Proje KlasÃ¶r YapÄ±sÄ±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KÃ¶k giriÅŸ sade, iÅŸ mantÄ±ÄŸÄ± src/airpulse paketinde toplandÄ±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123444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app.py: Streamlit giriÅŸ noktasÄ±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src/airpulse: Ã¼rÃ¼n ve model kodu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data/raw: ham istasyon CSV'leri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data/processed: cache ve validasyon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artifacts: metrikler ve raporlar</a:t>
            </a:r>
          </a:p>
        </p:txBody>
      </p:sp>
      <p:sp>
        <p:nvSpPr>
          <p:cNvPr id="7" name="Card"/>
          <p:cNvSpPr/>
          <p:nvPr/>
        </p:nvSpPr>
        <p:spPr>
          <a:xfrm>
            <a:off x="6263640" y="1234440"/>
            <a:ext cx="5212080" cy="4343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notebooks: keÅŸif ve model araÅŸtÄ±rmasÄ±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scripts: backtest ve eÄŸitim otomasyonu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locales: TR/EN arayÃ¼z metinleri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.streamlit: config ve secrets ÅŸablonu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DESIGN_SYSTEM.md: UI ilkeleri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9500"/>
          </a:solidFill>
          <a:ln>
            <a:solidFill>
              <a:srgbClr val="FF9500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Veri KaynaklarÄ± ve AkÄ±ÅŸ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FF9500"/>
          </a:solidFill>
          <a:ln>
            <a:solidFill>
              <a:srgbClr val="FF9500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CanlÄ± API, tarihsel fallback ve yerel artefaktlar birlikte Ã§alÄ±ÅŸÄ±r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1234440"/>
            <a:ext cx="3017520" cy="425196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WAQI / AQICN
CanlÄ± AQI, istasyon, bounds haritasÄ± ve resmi gÃ¼nlÃ¼k forecast</a:t>
            </a:r>
          </a:p>
        </p:txBody>
      </p:sp>
      <p:sp>
        <p:nvSpPr>
          <p:cNvPr id="7" name="Card"/>
          <p:cNvSpPr/>
          <p:nvPr/>
        </p:nvSpPr>
        <p:spPr>
          <a:xfrm>
            <a:off x="3886200" y="1234440"/>
            <a:ext cx="3017520" cy="4251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Tomorrow.io
RÃ¼zgar hÄ±zÄ±/yÃ¶nÃ¼ ve dispersiyon baÄŸlamÄ±</a:t>
            </a:r>
          </a:p>
        </p:txBody>
      </p:sp>
      <p:sp>
        <p:nvSpPr>
          <p:cNvPr id="8" name="Card"/>
          <p:cNvSpPr/>
          <p:nvPr/>
        </p:nvSpPr>
        <p:spPr>
          <a:xfrm>
            <a:off x="7086600" y="1234440"/>
            <a:ext cx="3017520" cy="4251960"/>
          </a:xfrm>
          <a:prstGeom prst="round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Open-Meteo
AnahtarsÄ±z tarihsel hava ve hava kalitesi fallback'i</a:t>
            </a:r>
          </a:p>
        </p:txBody>
      </p:sp>
      <p:sp>
        <p:nvSpPr>
          <p:cNvPr id="9" name="Card"/>
          <p:cNvSpPr/>
          <p:nvPr/>
        </p:nvSpPr>
        <p:spPr>
          <a:xfrm>
            <a:off x="10287000" y="1234440"/>
            <a:ext cx="960120" cy="42519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600">
                <a:solidFill>
                  <a:srgbClr val="FFFFFF"/>
                </a:solidFill>
              </a:rPr>
              <a:t>Cache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F52DE"/>
          </a:solidFill>
          <a:ln>
            <a:solidFill>
              <a:srgbClr val="AF52DE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Forecast Stratejisi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AF52DE"/>
          </a:solidFill>
          <a:ln>
            <a:solidFill>
              <a:srgbClr val="AF52D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Ãœretimde istikrar, ÅŸeffaflÄ±k ve fallback gÃ¼venliÄŸi Ã¶ncelikli</a:t>
            </a:r>
          </a:p>
        </p:txBody>
      </p:sp>
      <p:sp>
        <p:nvSpPr>
          <p:cNvPr id="6" name="Card"/>
          <p:cNvSpPr/>
          <p:nvPr/>
        </p:nvSpPr>
        <p:spPr>
          <a:xfrm>
            <a:off x="777240" y="1280160"/>
            <a:ext cx="3063240" cy="347472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800">
                <a:solidFill>
                  <a:srgbClr val="1D1D1F"/>
                </a:solidFill>
              </a:rPr>
              <a:t>1
WAQI Native Forecast
Resmi saÄŸlayÄ±cÄ± verisi varsa doÄŸrudan kullanÄ±lÄ±r.</a:t>
            </a:r>
          </a:p>
        </p:txBody>
      </p:sp>
      <p:sp>
        <p:nvSpPr>
          <p:cNvPr id="7" name="Card"/>
          <p:cNvSpPr/>
          <p:nvPr/>
        </p:nvSpPr>
        <p:spPr>
          <a:xfrm>
            <a:off x="4526280" y="1280160"/>
            <a:ext cx="306324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800">
                <a:solidFill>
                  <a:srgbClr val="1D1D1F"/>
                </a:solidFill>
              </a:rPr>
              <a:t>2
Observed History
Open-Meteo geÃ§miÅŸi canlÄ± WAQI deÄŸeriyle ankore edilir.</a:t>
            </a:r>
          </a:p>
        </p:txBody>
      </p:sp>
      <p:sp>
        <p:nvSpPr>
          <p:cNvPr id="8" name="Card"/>
          <p:cNvSpPr/>
          <p:nvPr/>
        </p:nvSpPr>
        <p:spPr>
          <a:xfrm>
            <a:off x="8275320" y="1280160"/>
            <a:ext cx="3063240" cy="347472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800">
                <a:solidFill>
                  <a:srgbClr val="1D1D1F"/>
                </a:solidFill>
              </a:rPr>
              <a:t>3
Holt-Winters Fallback
Forecast sÃ¼rekliliÄŸi iÃ§in muhafazakar tahmin Ã¼retilir.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Offline Model Metrikleri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Notebook araÅŸtÄ±rma katmanÄ±ndan Ã¼retime rehberlik eden benchmark sonuÃ§larÄ±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1234440"/>
            <a:ext cx="2651760" cy="10972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800">
                <a:solidFill>
                  <a:srgbClr val="1D1D1F"/>
                </a:solidFill>
              </a:rPr>
              <a:t>PM2.5
RMSE 16.27</a:t>
            </a:r>
          </a:p>
        </p:txBody>
      </p:sp>
      <p:sp>
        <p:nvSpPr>
          <p:cNvPr id="7" name="Card"/>
          <p:cNvSpPr/>
          <p:nvPr/>
        </p:nvSpPr>
        <p:spPr>
          <a:xfrm>
            <a:off x="3611880" y="1234440"/>
            <a:ext cx="265176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800">
                <a:solidFill>
                  <a:srgbClr val="1D1D1F"/>
                </a:solidFill>
              </a:rPr>
              <a:t>PM10
RMSE 12.14</a:t>
            </a:r>
          </a:p>
        </p:txBody>
      </p:sp>
      <p:sp>
        <p:nvSpPr>
          <p:cNvPr id="8" name="Card"/>
          <p:cNvSpPr/>
          <p:nvPr/>
        </p:nvSpPr>
        <p:spPr>
          <a:xfrm>
            <a:off x="6537960" y="1234440"/>
            <a:ext cx="2651760" cy="1097280"/>
          </a:xfrm>
          <a:prstGeom prst="roundRect">
            <a:avLst/>
          </a:prstGeom>
          <a:solidFill>
            <a:srgbClr val="FEFCE8"/>
          </a:solidFill>
          <a:ln>
            <a:solidFill>
              <a:srgbClr val="FEF08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800">
                <a:solidFill>
                  <a:srgbClr val="1D1D1F"/>
                </a:solidFill>
              </a:rPr>
              <a:t>O3
RMSE 6.01</a:t>
            </a:r>
          </a:p>
        </p:txBody>
      </p:sp>
      <p:sp>
        <p:nvSpPr>
          <p:cNvPr id="9" name="Card"/>
          <p:cNvSpPr/>
          <p:nvPr/>
        </p:nvSpPr>
        <p:spPr>
          <a:xfrm>
            <a:off x="9464040" y="1234440"/>
            <a:ext cx="196596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FECAC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800">
                <a:solidFill>
                  <a:srgbClr val="1D1D1F"/>
                </a:solidFill>
              </a:rPr>
              <a:t>NO2
RMSE 7.76</a:t>
            </a:r>
          </a:p>
        </p:txBody>
      </p:sp>
      <p:sp>
        <p:nvSpPr>
          <p:cNvPr id="10" name="Card"/>
          <p:cNvSpPr/>
          <p:nvPr/>
        </p:nvSpPr>
        <p:spPr>
          <a:xfrm>
            <a:off x="914400" y="2926080"/>
            <a:ext cx="10058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PM2.5 iÃ§in tree_ensemble_diverse modeli R2=0.771 ile gÃ¼Ã§lÃ¼ sonuÃ§ verdi.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PM10 ve O3 tarafÄ±nda random forest benchmark Ã¶ne Ã§Ä±ktÄ±.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NO2 iÃ§in tree_ensemble_stress_mix modeli dÃ¼ÅŸÃ¼k RMSE ile seÃ§ildi.</a:t>
            </a:r>
          </a:p>
          <a:p>
            <a:pPr marL="285750" indent="-171450">
              <a:buChar char="â€¢"/>
            </a:pPr>
            <a:r>
              <a:rPr lang="tr-TR" sz="1500">
                <a:solidFill>
                  <a:srgbClr val="1D1D1F"/>
                </a:solidFill>
              </a:rPr>
              <a:t>Ãœretimde bu araÅŸtÄ±rma Ã§Ä±ktÄ±larÄ± ÅŸeffaf ve kontrollÃ¼ entegrasyon iÃ§in referans olarak tutuluyor.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4C759"/>
          </a:solidFill>
          <a:ln>
            <a:solidFill>
              <a:srgbClr val="34C759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KullanÄ±cÄ± Deneyimi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34C759"/>
          </a:solidFill>
          <a:ln>
            <a:solidFill>
              <a:srgbClr val="34C759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Dashboard'dan rapora uzanan uÃ§tan uca akÄ±ÅŸ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1143000"/>
            <a:ext cx="3474720" cy="960120"/>
          </a:xfrm>
          <a:prstGeom prst="round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Dashboard
AnlÄ±k durum</a:t>
            </a:r>
          </a:p>
        </p:txBody>
      </p:sp>
      <p:sp>
        <p:nvSpPr>
          <p:cNvPr id="7" name="Card"/>
          <p:cNvSpPr/>
          <p:nvPr/>
        </p:nvSpPr>
        <p:spPr>
          <a:xfrm>
            <a:off x="4343400" y="1143000"/>
            <a:ext cx="34747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Station Map
Konumsal keÅŸif</a:t>
            </a:r>
          </a:p>
        </p:txBody>
      </p:sp>
      <p:sp>
        <p:nvSpPr>
          <p:cNvPr id="8" name="Card"/>
          <p:cNvSpPr/>
          <p:nvPr/>
        </p:nvSpPr>
        <p:spPr>
          <a:xfrm>
            <a:off x="8001000" y="1143000"/>
            <a:ext cx="3474720" cy="96012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Forecast
Gelecek risk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2743200"/>
            <a:ext cx="3474720" cy="96012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Take Action
KiÅŸisel Ã¶neri</a:t>
            </a:r>
          </a:p>
        </p:txBody>
      </p:sp>
      <p:sp>
        <p:nvSpPr>
          <p:cNvPr id="10" name="Card"/>
          <p:cNvSpPr/>
          <p:nvPr/>
        </p:nvSpPr>
        <p:spPr>
          <a:xfrm>
            <a:off x="4343400" y="2743200"/>
            <a:ext cx="347472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Analytics
Derin analiz</a:t>
            </a:r>
          </a:p>
        </p:txBody>
      </p:sp>
      <p:sp>
        <p:nvSpPr>
          <p:cNvPr id="11" name="Card"/>
          <p:cNvSpPr/>
          <p:nvPr/>
        </p:nvSpPr>
        <p:spPr>
          <a:xfrm>
            <a:off x="8001000" y="2743200"/>
            <a:ext cx="3474720" cy="960120"/>
          </a:xfrm>
          <a:prstGeom prst="roundRect">
            <a:avLst/>
          </a:prstGeom>
          <a:solidFill>
            <a:srgbClr val="FEE2E2"/>
          </a:solidFill>
          <a:ln>
            <a:solidFill>
              <a:srgbClr val="FECAC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Reports
PDF/JPEG/CSV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Analytics Lab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5856D6"/>
          </a:solidFill>
          <a:ln>
            <a:solidFill>
              <a:srgbClr val="5856D6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Hava kalitesi davranÄ±ÅŸÄ±nÄ± farklÄ± lenslerle aÃ§Ä±klama</a:t>
            </a:r>
          </a:p>
        </p:txBody>
      </p:sp>
      <p:sp>
        <p:nvSpPr>
          <p:cNvPr id="6" name="Card"/>
          <p:cNvSpPr/>
          <p:nvPr/>
        </p:nvSpPr>
        <p:spPr>
          <a:xfrm>
            <a:off x="777240" y="1234440"/>
            <a:ext cx="4937760" cy="40690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700">
                <a:solidFill>
                  <a:srgbClr val="1D1D1F"/>
                </a:solidFill>
              </a:rPr>
              <a:t>Temporal pattern: saat/gÃ¼n yapÄ±sÄ±</a:t>
            </a:r>
          </a:p>
          <a:p>
            <a:pPr marL="285750" indent="-171450">
              <a:buChar char="â€¢"/>
            </a:pPr>
            <a:r>
              <a:rPr lang="tr-TR" sz="1700">
                <a:solidFill>
                  <a:srgbClr val="1D1D1F"/>
                </a:solidFill>
              </a:rPr>
              <a:t>Wind dispersion: rÃ¼zgarla taÅŸÄ±nÄ±m</a:t>
            </a:r>
          </a:p>
          <a:p>
            <a:pPr marL="285750" indent="-171450">
              <a:buChar char="â€¢"/>
            </a:pPr>
            <a:r>
              <a:rPr lang="tr-TR" sz="1700">
                <a:solidFill>
                  <a:srgbClr val="1D1D1F"/>
                </a:solidFill>
              </a:rPr>
              <a:t>Forecast accuracy: validasyon ve drift</a:t>
            </a:r>
          </a:p>
          <a:p>
            <a:pPr marL="285750" indent="-171450">
              <a:buChar char="â€¢"/>
            </a:pPr>
            <a:r>
              <a:rPr lang="tr-TR" sz="1700">
                <a:solidFill>
                  <a:srgbClr val="1D1D1F"/>
                </a:solidFill>
              </a:rPr>
              <a:t>Comparative analysis: ÅŸehirler arasÄ± profil</a:t>
            </a:r>
          </a:p>
          <a:p>
            <a:pPr marL="285750" indent="-171450">
              <a:buChar char="â€¢"/>
            </a:pPr>
            <a:r>
              <a:rPr lang="tr-TR" sz="1700">
                <a:solidFill>
                  <a:srgbClr val="1D1D1F"/>
                </a:solidFill>
              </a:rPr>
              <a:t>Anomaly detection: sapma ve risk sinyali</a:t>
            </a:r>
          </a:p>
        </p:txBody>
      </p:sp>
      <p:sp>
        <p:nvSpPr>
          <p:cNvPr id="7" name="Card"/>
          <p:cNvSpPr/>
          <p:nvPr/>
        </p:nvSpPr>
        <p:spPr>
          <a:xfrm>
            <a:off x="6172200" y="1234440"/>
            <a:ext cx="51206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900">
                <a:solidFill>
                  <a:srgbClr val="1D1D1F"/>
                </a:solidFill>
              </a:rPr>
              <a:t>Not: Tarihsel analytics backend eksik olduÄŸunda motor deterministik, lokasyonla seed'lenmiÅŸ sinyaller Ã¼retir. Bu yaklaÅŸÄ±m demo stabilitesini korurken UI'nin boÅŸ kalmasÄ±nÄ± engeller.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3B30"/>
          </a:solidFill>
          <a:ln>
            <a:solidFill>
              <a:srgbClr val="FF3B30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Aksiyon ve Raporlama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FF3B30"/>
          </a:solidFill>
          <a:ln>
            <a:solidFill>
              <a:srgbClr val="FF3B30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Verinin kullanÄ±cÄ± davranÄ±ÅŸÄ±na ve paylaÅŸÄ±labilir Ã§Ä±ktÄ±lara dÃ¶nÃ¼ÅŸmesi</a:t>
            </a:r>
          </a:p>
        </p:txBody>
      </p:sp>
      <p:sp>
        <p:nvSpPr>
          <p:cNvPr id="6" name="Card"/>
          <p:cNvSpPr/>
          <p:nvPr/>
        </p:nvSpPr>
        <p:spPr>
          <a:xfrm>
            <a:off x="777240" y="1325880"/>
            <a:ext cx="3291840" cy="361188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Action Engine
AQI, dominant pollutant, rÃ¼zgar, profil bayraklarÄ± ve checklist Ã¼zerinden ilk 3 Ã¶neriyi sÄ±ralar.</a:t>
            </a:r>
          </a:p>
        </p:txBody>
      </p:sp>
      <p:sp>
        <p:nvSpPr>
          <p:cNvPr id="7" name="Card"/>
          <p:cNvSpPr/>
          <p:nvPr/>
        </p:nvSpPr>
        <p:spPr>
          <a:xfrm>
            <a:off x="4434840" y="1325880"/>
            <a:ext cx="3291840" cy="3611880"/>
          </a:xfrm>
          <a:prstGeom prst="round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Carbon &amp; Commute
UlaÅŸÄ±m, et tÃ¼ketimi, uÃ§uÅŸ, elektrik ve Ä±sÄ±nma Ã¼zerinden kiÅŸisel etki hesabÄ± yapÄ±lÄ±r.</a:t>
            </a:r>
          </a:p>
        </p:txBody>
      </p:sp>
      <p:sp>
        <p:nvSpPr>
          <p:cNvPr id="8" name="Card"/>
          <p:cNvSpPr/>
          <p:nvPr/>
        </p:nvSpPr>
        <p:spPr>
          <a:xfrm>
            <a:off x="8092440" y="1325880"/>
            <a:ext cx="3291840" cy="36118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700">
                <a:solidFill>
                  <a:srgbClr val="1D1D1F"/>
                </a:solidFill>
              </a:rPr>
              <a:t>Export Ready
A4 PDF, sosyal medya JPEG kartÄ± ve CSV Ã§Ä±ktÄ±sÄ± tek akÄ±ÅŸta Ã¼retilir.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GÃ¼venlik ve YayÄ±na Alma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Anahtar yÃ¶netimi, cache ve deployment hazÄ±rlÄ±ÄŸÄ±</a:t>
            </a:r>
          </a:p>
        </p:txBody>
      </p:sp>
      <p:sp>
        <p:nvSpPr>
          <p:cNvPr id="6" name="Card"/>
          <p:cNvSpPr/>
          <p:nvPr/>
        </p:nvSpPr>
        <p:spPr>
          <a:xfrm>
            <a:off x="777240" y="1234440"/>
            <a:ext cx="507492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WAQI_TOKEN ve TOMORROW_IO_API_KEY kod iÃ§ine yazÄ±lmaz.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Streamlit secrets, environment variable ve yerel fallback desteklenir.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.gitignore gerÃ§ek secrets, log ve runtime dosyalarÄ±nÄ± dÄ±ÅŸarÄ±da bÄ±rakÄ±r.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Cache TTL deÄŸerleri config.py iÃ§inde merkezi yÃ¶netilir.</a:t>
            </a:r>
          </a:p>
        </p:txBody>
      </p:sp>
      <p:sp>
        <p:nvSpPr>
          <p:cNvPr id="7" name="Card"/>
          <p:cNvSpPr/>
          <p:nvPr/>
        </p:nvSpPr>
        <p:spPr>
          <a:xfrm>
            <a:off x="6309360" y="1234440"/>
            <a:ext cx="4983480" cy="4206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Deployment checklist: app.py, requirements.txt, secrets template.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Ãœretim yaklaÅŸÄ±mÄ±: saÄŸlayÄ±cÄ± verisi Ã¶nce, fallback aÃ§Ä±kÃ§a etiketli.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API limitlerine saygÄ±lÄ± session reuse ve retry mantÄ±ÄŸÄ±.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Rapor Ã§Ä±ktÄ±larÄ± artifacts ve uygulama indirme akÄ±ÅŸÄ±nda kullanÄ±labilir.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800">
                <a:solidFill>
                  <a:srgbClr val="1D1D1F"/>
                </a:solidFill>
              </a:rPr>
              <a:t/>
            </a:r>
          </a:p>
        </p:txBody>
      </p:sp>
      <p:sp>
        <p:nvSpPr>
          <p:cNvPr id="3" name="Shape"/>
          <p:cNvSpPr/>
          <p:nvPr/>
        </p:nvSpPr>
        <p:spPr>
          <a:xfrm>
            <a:off x="566928" y="384048"/>
            <a:ext cx="7040880" cy="56692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500">
                <a:solidFill>
                  <a:srgbClr val="0F172A"/>
                </a:solidFill>
              </a:rPr>
              <a:t>Yol HaritasÄ± ve SonuÃ§</a:t>
            </a:r>
          </a:p>
        </p:txBody>
      </p:sp>
      <p:sp>
        <p:nvSpPr>
          <p:cNvPr id="4" name="Shape"/>
          <p:cNvSpPr/>
          <p:nvPr/>
        </p:nvSpPr>
        <p:spPr>
          <a:xfrm>
            <a:off x="10378440" y="457200"/>
            <a:ext cx="1143000" cy="310896"/>
          </a:xfrm>
          <a:prstGeom prst="round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Shape"/>
          <p:cNvSpPr/>
          <p:nvPr/>
        </p:nvSpPr>
        <p:spPr>
          <a:xfrm>
            <a:off x="603504" y="932688"/>
            <a:ext cx="8686800" cy="384048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txBody>
          <a:bodyPr wrap="square" anchor="mid">
            <a:spAutoFit/>
          </a:bodyPr>
          <a:lstStyle/>
          <a:p>
            <a:r>
              <a:rPr lang="tr-TR" sz="1200">
                <a:solidFill>
                  <a:srgbClr val="64748B"/>
                </a:solidFill>
              </a:rPr>
              <a:t>Proje geliÅŸtirilebilir bir Ã§evresel zeka Ã¼rÃ¼nÃ¼ temelindedir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123444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>
            <a:spAutoFit/>
          </a:bodyPr>
          <a:lstStyle/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Ä°stanbul istasyon metadata doÄŸrulamasÄ±nÄ± tamamlama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Forecast validation store'u dÃ¼zenli bÃ¼yÃ¼tme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Offline champion modellerini kontrollÃ¼ ÅŸekilde Ã¼retime alma</a:t>
            </a:r>
          </a:p>
          <a:p>
            <a:pPr marL="285750" indent="-171450">
              <a:buChar char="â€¢"/>
            </a:pPr>
            <a:r>
              <a:rPr lang="tr-TR" sz="1600">
                <a:solidFill>
                  <a:srgbClr val="1D1D1F"/>
                </a:solidFill>
              </a:rPr>
              <a:t>Kurumsal rapor ÅŸablonlarÄ± ve otomatik yorumlama ekleme</a:t>
            </a:r>
          </a:p>
        </p:txBody>
      </p:sp>
      <p:sp>
        <p:nvSpPr>
          <p:cNvPr id="7" name="Card"/>
          <p:cNvSpPr/>
          <p:nvPr/>
        </p:nvSpPr>
        <p:spPr>
          <a:xfrm>
            <a:off x="6355080" y="1234440"/>
            <a:ext cx="5074920" cy="425196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anchor="mid">
            <a:spAutoFit/>
          </a:bodyPr>
          <a:lstStyle/>
          <a:p>
            <a:r>
              <a:rPr lang="tr-TR" b="1" sz="2000">
                <a:solidFill>
                  <a:srgbClr val="1D1D1F"/>
                </a:solidFill>
              </a:rPr>
              <a:t>SonuÃ§
AirPulse Global; canlÄ± veri, modelleme, aksiyon Ã¶nerisi ve raporlamayÄ± bir araya getirerek hava kalitesi bilgisini karar destek Ã¼rÃ¼nÃ¼ne dÃ¶nÃ¼ÅŸtÃ¼rÃ¼r.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Pulse">
  <a:themeElements>
    <a:clrScheme name="AirPulse">
      <a:dk1>
        <a:srgbClr val="0F172A"/>
      </a:dk1>
      <a:lt1>
        <a:srgbClr val="FFFFFF"/>
      </a:lt1>
      <a:dk2>
        <a:srgbClr val="1D1D1F"/>
      </a:dk2>
      <a:lt2>
        <a:srgbClr val="F5F7FB"/>
      </a:lt2>
      <a:accent1>
        <a:srgbClr val="007AFF"/>
      </a:accent1>
      <a:accent2>
        <a:srgbClr val="34C759"/>
      </a:accent2>
      <a:accent3>
        <a:srgbClr val="FF9500"/>
      </a:accent3>
      <a:accent4>
        <a:srgbClr val="FF3B30"/>
      </a:accent4>
      <a:accent5>
        <a:srgbClr val="5856D6"/>
      </a:accent5>
      <a:accent6>
        <a:srgbClr val="AF52DE"/>
      </a:accent6>
      <a:hlink>
        <a:srgbClr val="007AFF"/>
      </a:hlink>
      <a:folHlink>
        <a:srgbClr val="5856D6"/>
      </a:folHlink>
    </a:clrScheme>
    <a:fontScheme name="AirPulse">
      <a:majorFont>
        <a:latin typeface="Aptos Display"/>
      </a:majorFont>
      <a:minorFont>
        <a:latin typeface="Aptos"/>
      </a:minorFont>
    </a:fontScheme>
    <a:fmtScheme name="AirPuls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40000" dist="20000" dir="5400000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57150" dist="38100" dir="5400000" rotWithShape="0">
              <a:srgbClr val="000000">
                <a:alpha val="2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tint val="9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AirPulse Deliverable Generator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AirPulse Global Proje Sunumu</dc:title>
  <dc:creator>Codex</dc:creator>
  <cp:lastModifiedBy>Codex</cp:lastModifiedBy>
  <dcterms:created xsi:type="dcterms:W3CDTF">2026-05-06T17:41:40.182670Z</dcterms:created>
  <dcterms:modified xsi:type="dcterms:W3CDTF">2026-05-06T17:41:40.182670Z</dcterms:modified>
</cp:coreProperties>
</file>